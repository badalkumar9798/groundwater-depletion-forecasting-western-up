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-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Groundwater Depletion Rate by District (m/year)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Depletion rate (m/year)</c:v>
                </c:pt>
              </c:strCache>
            </c:strRef>
          </c:tx>
          <c:spPr>
            <a:solidFill>
              <a:srgbClr val="126E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D4-481F-B71F-3D108CB504B2}"/>
              </c:ext>
            </c:extLst>
          </c:dPt>
          <c:dPt>
            <c:idx val="1"/>
            <c:invertIfNegative val="0"/>
            <c:bubble3D val="0"/>
            <c:spPr>
              <a:solidFill>
                <a:srgbClr val="A975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D4-481F-B71F-3D108CB504B2}"/>
              </c:ext>
            </c:extLst>
          </c:dPt>
          <c:dPt>
            <c:idx val="2"/>
            <c:invertIfNegative val="0"/>
            <c:bubble3D val="0"/>
            <c:spPr>
              <a:solidFill>
                <a:srgbClr val="A975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D4-481F-B71F-3D108CB504B2}"/>
              </c:ext>
            </c:extLst>
          </c:dPt>
          <c:dPt>
            <c:idx val="3"/>
            <c:invertIfNegative val="0"/>
            <c:bubble3D val="0"/>
            <c:spPr>
              <a:solidFill>
                <a:srgbClr val="4F7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D4-481F-B71F-3D108CB504B2}"/>
              </c:ext>
            </c:extLst>
          </c:dPt>
          <c:dPt>
            <c:idx val="4"/>
            <c:invertIfNegative val="0"/>
            <c:bubble3D val="0"/>
            <c:spPr>
              <a:solidFill>
                <a:srgbClr val="A975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D4-481F-B71F-3D108CB504B2}"/>
              </c:ext>
            </c:extLst>
          </c:dPt>
          <c:dPt>
            <c:idx val="5"/>
            <c:invertIfNegative val="0"/>
            <c:bubble3D val="0"/>
            <c:spPr>
              <a:solidFill>
                <a:srgbClr val="4F7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1D4-481F-B71F-3D108CB504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Saharanpur</c:v>
                </c:pt>
                <c:pt idx="1">
                  <c:v>Muzaffarnagar</c:v>
                </c:pt>
                <c:pt idx="2">
                  <c:v>Meerut</c:v>
                </c:pt>
                <c:pt idx="3">
                  <c:v>Bijnor</c:v>
                </c:pt>
                <c:pt idx="4">
                  <c:v>Moradabad</c:v>
                </c:pt>
                <c:pt idx="5">
                  <c:v>Bareilly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2E-3</c:v>
                </c:pt>
                <c:pt idx="1">
                  <c:v>0.216</c:v>
                </c:pt>
                <c:pt idx="2">
                  <c:v>0.125</c:v>
                </c:pt>
                <c:pt idx="3">
                  <c:v>5.8000000000000003E-2</c:v>
                </c:pt>
                <c:pt idx="4">
                  <c:v>0.13400000000000001</c:v>
                </c:pt>
                <c:pt idx="5">
                  <c:v>2.5000000000000001E-2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1D4-481F-B71F-3D108CB504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A23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712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Mention that this project is rooted in a real local problem — groundwater depletion across Saharanpur and 5 surrounding districts. Data is from the Central Ground Water Board (CGWB).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groundwater problem in India &amp; UP specifically. Mention that Saharanpur is your home district — this gives the project a real local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SDG 6 is the primary SDG and SDG 13 is secondary. Both are directly relevant — groundwater depletion is both a water resource issue AND a climate change indicator.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5-step pipeline. Emphasize that this is real data and real model outputs — not simulated. Mention the holdout MAE values to show model accuracy was evaluated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primary beneficiary is farmers in Western UP who depend on groundwater for irrigation. The dashboard is designed to be simple enough that district-level officials can use it without technical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actual dashboard HTML file here. Open it in a browser, click between districts, show the borehole dropping and the forecast line. Show Muzaffarnagar vs Saharanpur to contrast risk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A95A-4D6E-C3BA-76B4-0FBBE1A5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BCDBF-5924-D3D7-8F89-2767C1881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8EAE5-296E-6682-51D2-EB720101A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actual dashboard HTML file here. Open it in a browser, click between districts, show the borehole dropping and the forecast line. Show Muzaffarnagar vs Saharanpur to contrast risk levels.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D29BC-F7AE-DA48-044E-0CF0F544C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77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 is MANDATORY in the guideline — spend enough time on this slide. Emphasise the honest limitations section — internship evaluators appreciate intellectual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Muzaffarnagar has the steepest decline at 0.216 m/year and Saharanpur is essentially stable at 0.002 m/year. These are real, model-derived findings — not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 — you have real data, a working prototype, and an honest responsible-AI section. Offer to demo the dashboard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126E82">
              <a:alpha val="22000"/>
            </a:srgbClr>
          </a:solidFill>
          <a:ln w="12700">
            <a:solidFill>
              <a:srgbClr val="126E82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51C4D3">
              <a:alpha val="15000"/>
            </a:srgbClr>
          </a:solidFill>
          <a:ln w="12700">
            <a:solidFill>
              <a:srgbClr val="51C4D3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·  IBM SkillsBuild &amp; AICTE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77240" cy="292608"/>
          </a:xfrm>
          <a:prstGeom prst="rect">
            <a:avLst/>
          </a:prstGeom>
          <a:solidFill>
            <a:srgbClr val="51C4D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0"/>
            <a:ext cx="822960" cy="292608"/>
          </a:xfrm>
          <a:prstGeom prst="rect">
            <a:avLst/>
          </a:prstGeom>
          <a:solidFill>
            <a:srgbClr val="126E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Groundwater Level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Depletion Forecasting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prediction &amp; risk classification for Western Uttar Pradesh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913632"/>
            <a:ext cx="3657600" cy="0"/>
          </a:xfrm>
          <a:prstGeom prst="line">
            <a:avLst/>
          </a:prstGeom>
          <a:noFill/>
          <a:ln w="1905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Badal Kumar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E.Mail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 :- badalkumar88935@gmail.com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university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Roorkee,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Uttrakhand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forecast groundwater depletion so that communities in Western UP can plan water use more sustainably?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D4F5F5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6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63347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agriculture depends on groundwater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03120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D4F5F5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4884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6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48840" y="263347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groundwater user in the world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0" y="21031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D4F5F5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88620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6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86200" y="263347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states with critical depletion zones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429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Overextraction for agriculture &amp; drinking water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monsoon &amp; reduced natural recharge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early-warning system at district level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0" y="777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11887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89320" y="1261872"/>
            <a:ext cx="411480" cy="411480"/>
          </a:xfrm>
          <a:prstGeom prst="ellipse">
            <a:avLst/>
          </a:prstGeom>
          <a:solidFill>
            <a:srgbClr val="4F7857"/>
          </a:solidFill>
          <a:ln w="12700">
            <a:solidFill>
              <a:srgbClr val="4F7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40680" y="16916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Saharanpur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40680" y="19659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0" y="11887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26680" y="1261872"/>
            <a:ext cx="411480" cy="411480"/>
          </a:xfrm>
          <a:prstGeom prst="ellipse">
            <a:avLst/>
          </a:prstGeom>
          <a:solidFill>
            <a:srgbClr val="A9752E"/>
          </a:solidFill>
          <a:ln w="12700">
            <a:solidFill>
              <a:srgbClr val="A975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178040" y="16916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Muzaffarnagar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78040" y="19659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94960" y="242316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989320" y="2496312"/>
            <a:ext cx="411480" cy="411480"/>
          </a:xfrm>
          <a:prstGeom prst="ellipse">
            <a:avLst/>
          </a:prstGeom>
          <a:solidFill>
            <a:srgbClr val="A9752E"/>
          </a:solidFill>
          <a:ln w="12700">
            <a:solidFill>
              <a:srgbClr val="A975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40680" y="29260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40680" y="3200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242316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726680" y="2496312"/>
            <a:ext cx="411480" cy="411480"/>
          </a:xfrm>
          <a:prstGeom prst="ellipse">
            <a:avLst/>
          </a:prstGeom>
          <a:solidFill>
            <a:srgbClr val="4F7857"/>
          </a:solidFill>
          <a:ln w="12700">
            <a:solidFill>
              <a:srgbClr val="4F7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78040" y="29260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Bijnor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78040" y="3200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36576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989320" y="3730752"/>
            <a:ext cx="411480" cy="411480"/>
          </a:xfrm>
          <a:prstGeom prst="ellipse">
            <a:avLst/>
          </a:prstGeom>
          <a:solidFill>
            <a:srgbClr val="A9752E"/>
          </a:solidFill>
          <a:ln w="12700">
            <a:solidFill>
              <a:srgbClr val="A975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40680" y="41605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Moradabad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40680" y="4434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365760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726680" y="3730752"/>
            <a:ext cx="411480" cy="411480"/>
          </a:xfrm>
          <a:prstGeom prst="ellipse">
            <a:avLst/>
          </a:prstGeom>
          <a:solidFill>
            <a:srgbClr val="4F7857"/>
          </a:solidFill>
          <a:ln w="12700">
            <a:solidFill>
              <a:srgbClr val="4F7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78040" y="41605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Bareilly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78040" y="4434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7764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640080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822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&amp; Sanitation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aligns: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groundwater depth across 6 UP districts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depletion risk (Low / Moderate / High)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sustainable extraction planning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20+ years of real CGWB monitoring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3931920" cy="397764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3931920" cy="640080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63440" y="8229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822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aligns: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decline is a direct climate impact indicator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 analysis reveals long-run climate stress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data-driven climate adaptation strategies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AI as a tool for environmental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8952" y="896112"/>
            <a:ext cx="548640" cy="5486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58952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CGWB quarterly well depth data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1996–2017, 180+ wells,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UP districts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404872"/>
            <a:ext cx="155448" cy="0"/>
          </a:xfrm>
          <a:prstGeom prst="line">
            <a:avLst/>
          </a:prstGeom>
          <a:noFill/>
          <a:ln w="254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84248" y="804672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14600" y="896112"/>
            <a:ext cx="548640" cy="5486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14600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1554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9968" y="2176272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well readings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district-level means,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small gaps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84448" y="2404872"/>
            <a:ext cx="155448" cy="0"/>
          </a:xfrm>
          <a:prstGeom prst="line">
            <a:avLst/>
          </a:prstGeom>
          <a:noFill/>
          <a:ln w="254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39896" y="804672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70248" y="896112"/>
            <a:ext cx="548640" cy="5486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70248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85616" y="1554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85616" y="2176272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(prev 4 quarters)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seasonal quarter index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district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0096" y="2404872"/>
            <a:ext cx="155448" cy="0"/>
          </a:xfrm>
          <a:prstGeom prst="line">
            <a:avLst/>
          </a:prstGeom>
          <a:noFill/>
          <a:ln w="254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95544" y="804672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25896" y="896112"/>
            <a:ext cx="548640" cy="5486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25896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41264" y="1554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2176272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trees, trained on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features; recursive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forecast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95744" y="2404872"/>
            <a:ext cx="155448" cy="0"/>
          </a:xfrm>
          <a:prstGeom prst="line">
            <a:avLst/>
          </a:prstGeom>
          <a:noFill/>
          <a:ln w="254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251192" y="804672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781544" y="896112"/>
            <a:ext cx="548640" cy="5486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81544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96912" y="15544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96912" y="2176272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slope: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≥0.30 m/yr = High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0.10–0.30 = Moderate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(Actual)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4348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4462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Saharanpur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+0.002 m/yr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828800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28800" y="4709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0.544 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91840" y="44348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83280" y="4462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Muzaffarnagar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832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+0.216 m/yr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9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4709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1.887 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17920" y="44348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09360" y="4462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Meerut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0936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+0.125 m/yr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80960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9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80960" y="4709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0.590 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4632" y="1371600"/>
            <a:ext cx="685800" cy="685800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irrigation cycles based on forecast water table depth and seasonal risk alerts for their district.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73752" y="1371600"/>
            <a:ext cx="685800" cy="68580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0" y="10515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Authorities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Jal Boards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67335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water extraction permits, monitor depletion trends, and plan recharge interventions.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4632" y="3520440"/>
            <a:ext cx="685800" cy="6858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risk maps to prioritise groundwater conservation zones and design sustainable land-use policies.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73752" y="3520440"/>
            <a:ext cx="685800" cy="685800"/>
          </a:xfrm>
          <a:prstGeom prst="ellipse">
            <a:avLst/>
          </a:prstGeom>
          <a:solidFill>
            <a:srgbClr val="A53F2C"/>
          </a:solidFill>
          <a:ln w="12700">
            <a:solidFill>
              <a:srgbClr val="A53F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0" y="32004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NGOs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382219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extend the model with newer field data; use the dashboard for public awareness campaigns.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Groundwater Watch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Groundwater Watch Dashboard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22C42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0" cy="1682496"/>
          </a:xfrm>
          <a:prstGeom prst="line">
            <a:avLst/>
          </a:prstGeom>
          <a:noFill/>
          <a:ln w="381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9784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Selector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380744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Saharanpur, Muzaffarnagar, Meerut, Bijnor, Moradabad, Bareilly in one click.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8686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22C42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83280" y="941832"/>
            <a:ext cx="0" cy="1682496"/>
          </a:xfrm>
          <a:prstGeom prst="line">
            <a:avLst/>
          </a:prstGeom>
          <a:noFill/>
          <a:ln w="381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11296" y="9784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 Visual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11296" y="1380744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graphic showing current water table depth in metres — intuitive even for non-technical users.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882396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22C42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27648" y="941832"/>
            <a:ext cx="0" cy="1682496"/>
          </a:xfrm>
          <a:prstGeom prst="line">
            <a:avLst/>
          </a:prstGeom>
          <a:noFill/>
          <a:ln w="381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30845" y="99669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73368" y="133731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Low / Moderate / High label derived from the linear trend slope.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22C42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38912" y="2907792"/>
            <a:ext cx="0" cy="1682496"/>
          </a:xfrm>
          <a:prstGeom prst="line">
            <a:avLst/>
          </a:prstGeom>
          <a:noFill/>
          <a:ln w="381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294436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Chart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3346704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20-year quarterly depth time series (1996–2017) rendered with Chart.js.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2846397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22C42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3383280" y="2914650"/>
            <a:ext cx="0" cy="1682496"/>
          </a:xfrm>
          <a:prstGeom prst="line">
            <a:avLst/>
          </a:prstGeom>
          <a:noFill/>
          <a:ln w="381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59481" y="296265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Forecast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24428" y="339373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recursive forecast shown as a dashed line extending beyond observed data.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2896362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22C42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327648" y="2992701"/>
            <a:ext cx="0" cy="1682496"/>
          </a:xfrm>
          <a:prstGeom prst="line">
            <a:avLst/>
          </a:prstGeom>
          <a:noFill/>
          <a:ln w="381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73368" y="291465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30845" y="3346704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install — open the single .html file in any browser, works offline.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19EB-CA9B-F251-BCA0-3AE8BCF0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22D242-DEFA-AD11-D287-DFE0DC060C6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DA1022-EF4C-7436-816C-4712F1F73AE7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Groundwater Watch Dashboard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0062B5C-4167-67DB-1B0B-B30F6F4D03F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F1ECC3-32B7-48C9-A303-36EAFB0DBA3B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Groundwater Watch Dashboard</a:t>
            </a:r>
            <a:endParaRPr lang="en-US" sz="18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DC3B982-5BCE-CDD2-F55B-72A238D8B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784" y="685800"/>
            <a:ext cx="9202783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07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  (Mandatory)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82296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98448"/>
            <a:ext cx="38953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6 districts equally — no geographic bias in model training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labels use objective, explainable thresholds (slope in m/yr)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 data involved — no risk of social discrimination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18888" y="82296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298448"/>
            <a:ext cx="38953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(Random Forest + Linear Trend) are fully explained in the report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MAE values published per district — no hidden accuracy claims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footer explicitly states data limitations &amp; model scope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14800" cy="411480"/>
          </a:xfrm>
          <a:prstGeom prst="rect">
            <a:avLst/>
          </a:prstGeom>
          <a:solidFill>
            <a:srgbClr val="A53F2C"/>
          </a:solidFill>
          <a:ln w="12700">
            <a:solidFill>
              <a:srgbClr val="A53F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29718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Privacy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447288"/>
            <a:ext cx="38953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or sensitive data used — all data is public CGWB records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framed as 'indicative trend', not a precise operational prediction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bias — this is a public-good academic tool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114800" cy="411480"/>
          </a:xfrm>
          <a:prstGeom prst="rect">
            <a:avLst/>
          </a:prstGeom>
          <a:solidFill>
            <a:srgbClr val="A9752E"/>
          </a:solidFill>
          <a:ln w="12700">
            <a:solidFill>
              <a:srgbClr val="A975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18888" y="29718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(Honest Disclosure)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3447288"/>
            <a:ext cx="38953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cuts off at 2017 — post-2017 trends not validated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well coverage in some quarters may affect district averages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may underestimate extreme depletion events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04672"/>
          <a:ext cx="49377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32120" y="8046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Deployed, This Tool Would: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32120" y="1261872"/>
            <a:ext cx="3337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650992" y="12984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50992" y="15727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seasonal depletion alerts before irrigation season to plan water use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32120" y="2112264"/>
            <a:ext cx="3337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50992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 Board UP: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50992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districts for targeted recharge schemes &amp; extraction limits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32120" y="2962656"/>
            <a:ext cx="3337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650992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50992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3-year forecast to allocate groundwater conservation budgets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32120" y="3813048"/>
            <a:ext cx="3337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E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50992" y="38496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50992" y="41239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to build upon with newer post-2017 CGWB data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87312" y="-457200"/>
            <a:ext cx="3657600" cy="3657600"/>
          </a:xfrm>
          <a:prstGeom prst="ellipse">
            <a:avLst/>
          </a:prstGeom>
          <a:solidFill>
            <a:srgbClr val="126E82">
              <a:alpha val="18000"/>
            </a:srgbClr>
          </a:solidFill>
          <a:ln w="12700">
            <a:solidFill>
              <a:srgbClr val="126E8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474720"/>
            <a:ext cx="3200400" cy="3200400"/>
          </a:xfrm>
          <a:prstGeom prst="ellipse">
            <a:avLst/>
          </a:prstGeom>
          <a:solidFill>
            <a:srgbClr val="51C4D3">
              <a:alpha val="12000"/>
            </a:srgbClr>
          </a:solidFill>
          <a:ln w="12700">
            <a:solidFill>
              <a:srgbClr val="51C4D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10768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real model</a:t>
            </a:r>
            <a:r>
              <a:rPr lang="en-US" sz="13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CGWB 1996–2017, 180+ wells, 6 districts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AI</a:t>
            </a:r>
            <a:r>
              <a:rPr lang="en-US" sz="13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Random Forest + linear trend, both explainable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grounded</a:t>
            </a:r>
            <a:r>
              <a:rPr lang="en-US" sz="13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Saharanpur &amp; surrounding UP districts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1C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r>
              <a:rPr lang="en-US" sz="13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Transparent, limitations disclosed, public-good use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4572000" cy="0"/>
          </a:xfrm>
          <a:prstGeom prst="line">
            <a:avLst/>
          </a:prstGeom>
          <a:noFill/>
          <a:ln w="12700">
            <a:solidFill>
              <a:srgbClr val="51C4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Groundwater Watch  ·  Western 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project for the 1M1B AI for Sustainability Virtual Internship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Badal Kumar  ·  Quantum University  ·  Roorkee, UK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1C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1164</Words>
  <Application>Microsoft Office PowerPoint</Application>
  <PresentationFormat>On-screen Show (16:9)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Groundwater Depletion Forecasting — AI for Sustainability</dc:title>
  <dc:subject>PptxGenJS Presentation</dc:subject>
  <dc:creator>Badal Kumar</dc:creator>
  <cp:lastModifiedBy>badal kumar</cp:lastModifiedBy>
  <cp:revision>5</cp:revision>
  <dcterms:created xsi:type="dcterms:W3CDTF">2026-06-23T19:30:29Z</dcterms:created>
  <dcterms:modified xsi:type="dcterms:W3CDTF">2026-06-23T20:05:55Z</dcterms:modified>
</cp:coreProperties>
</file>